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72A"/>
                </a:solidFill>
                <a:latin typeface="Pretendard"/>
              </a:defRPr>
            </a:pPr>
            <a:r>
              <a:rPr sz="1300" b="0" i="0" u="none" strike="noStrike">
                <a:solidFill>
                  <a:srgbClr val="0F172A"/>
                </a:solidFill>
                <a:latin typeface="Pretendard"/>
              </a:rPr>
              <a:t>심각도 분포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건수</c:v>
                </c:pt>
              </c:strCache>
            </c:strRef>
          </c:tx>
          <c:spPr>
            <a:solidFill>
              <a:srgbClr val="FF6B6B">
                <a:alpha val="10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172A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B02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D4A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High</c:v>
                  </c:pt>
                  <c:pt idx="1">
                    <c:v>Medium</c:v>
                  </c:pt>
                  <c:pt idx="2">
                    <c:v>Low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</c:v>
                </c:pt>
                <c:pt idx="1">
                  <c:v>23</c:v>
                </c:pt>
                <c:pt idx="2">
                  <c:v>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172A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874520"/>
            <a:ext cx="1280160" cy="73152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10312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-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LangGraph 에이전트 리뷰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A5B4C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Wiki Builder · Report Builder — 현재 상태와 개선점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2960" y="40690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방법  </a:t>
            </a:r>
            <a:pPr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5개 영역 병렬 심층 분석 → 개선점 48건 전수 코드 재검증 (45 확정 · 기각 0건)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밤새비서 (Bambi) · bambi-agent-api · 2026-07-26 · Team AlphaCatcher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밤새비서 · bambi-agent-api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-30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한눈에 보기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Executive Summary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76072" y="1645920"/>
            <a:ext cx="3557016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792224"/>
            <a:ext cx="3282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StateGraph 2개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13232" y="2157984"/>
            <a:ext cx="328269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Wiki Builder 5노드 선형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Report Builder 3노드 선형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(agent/graph.py 단일 파일)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70832" y="164592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98264" y="1645920"/>
            <a:ext cx="3557016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3" name="Text 11"/>
          <p:cNvSpPr/>
          <p:nvPr/>
        </p:nvSpPr>
        <p:spPr>
          <a:xfrm>
            <a:off x="4535424" y="1792224"/>
            <a:ext cx="3282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개선점 48건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35424" y="2157984"/>
            <a:ext cx="328269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재검증 결과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45 확정 · 3 부분확정 · 기각 0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(전건 코드 대조 완료)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93024" y="1645920"/>
            <a:ext cx="36118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0456" y="1645920"/>
            <a:ext cx="3557016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7" name="Text 15"/>
          <p:cNvSpPr/>
          <p:nvPr/>
        </p:nvSpPr>
        <p:spPr>
          <a:xfrm>
            <a:off x="8357616" y="1792224"/>
            <a:ext cx="3282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P0 이슈 7건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357616" y="2157984"/>
            <a:ext cx="3282696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신뢰성·원칙·측정의 구멍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고칠 것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(대부분 반나절~하루 규모)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3520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결론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3931920"/>
            <a:ext cx="108813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[object Object],[object Object]</a:t>
            </a:r>
            <a:endParaRPr lang="en-US" sz="1450" dirty="0"/>
          </a:p>
          <a:p>
            <a:pPr marL="152400" indent="-1524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[object Object],[object Object]</a:t>
            </a:r>
            <a:endParaRPr lang="en-US" sz="1450" dirty="0"/>
          </a:p>
          <a:p>
            <a:pPr marL="152400" indent="-152400">
              <a:lnSpc>
                <a:spcPct val="13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[object Object],[object Object]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밤새비서 · bambi-agent-api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-30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에이전트의 위치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경로: 개발 API와 운영 Worker가 같은 그래프 진입점을 공유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553462" cy="1143000"/>
          </a:xfrm>
          <a:prstGeom prst="roundRect">
            <a:avLst>
              <a:gd name="adj" fmla="val 5600"/>
            </a:avLst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10512"/>
            <a:ext cx="255346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Service API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176272"/>
            <a:ext cx="246202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Boot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(Job 발행)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38678" y="2208276"/>
            <a:ext cx="219456" cy="20116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1" name="Shape 9"/>
          <p:cNvSpPr/>
          <p:nvPr/>
        </p:nvSpPr>
        <p:spPr>
          <a:xfrm>
            <a:off x="3394710" y="1737360"/>
            <a:ext cx="2553462" cy="1143000"/>
          </a:xfrm>
          <a:prstGeom prst="roundRect">
            <a:avLst>
              <a:gd name="adj" fmla="val 5600"/>
            </a:avLst>
          </a:prstGeom>
          <a:solidFill>
            <a:srgbClr val="64748B"/>
          </a:solidFill>
          <a:ln/>
        </p:spPr>
      </p:sp>
      <p:sp>
        <p:nvSpPr>
          <p:cNvPr id="12" name="Text 10"/>
          <p:cNvSpPr/>
          <p:nvPr/>
        </p:nvSpPr>
        <p:spPr>
          <a:xfrm>
            <a:off x="3394710" y="1810512"/>
            <a:ext cx="255346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agent-db Job 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40430" y="2176272"/>
            <a:ext cx="246202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queued → claim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SKIP LOCKED · lease 600초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4748" y="2208276"/>
            <a:ext cx="219456" cy="20116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5" name="Shape 13"/>
          <p:cNvSpPr/>
          <p:nvPr/>
        </p:nvSpPr>
        <p:spPr>
          <a:xfrm>
            <a:off x="6240780" y="1737360"/>
            <a:ext cx="2553462" cy="1143000"/>
          </a:xfrm>
          <a:prstGeom prst="roundRect">
            <a:avLst>
              <a:gd name="adj" fmla="val 5600"/>
            </a:avLst>
          </a:prstGeom>
          <a:solidFill>
            <a:srgbClr val="4A7BF7"/>
          </a:solidFill>
          <a:ln/>
        </p:spPr>
      </p:sp>
      <p:sp>
        <p:nvSpPr>
          <p:cNvPr id="16" name="Text 14"/>
          <p:cNvSpPr/>
          <p:nvPr/>
        </p:nvSpPr>
        <p:spPr>
          <a:xfrm>
            <a:off x="6240780" y="1810512"/>
            <a:ext cx="255346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진입점 (공유)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86500" y="2176272"/>
            <a:ext cx="246202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run_personal_wiki_build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run_report_generation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830818" y="2208276"/>
            <a:ext cx="219456" cy="20116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9" name="Shape 17"/>
          <p:cNvSpPr/>
          <p:nvPr/>
        </p:nvSpPr>
        <p:spPr>
          <a:xfrm>
            <a:off x="9086850" y="1737360"/>
            <a:ext cx="2553462" cy="1143000"/>
          </a:xfrm>
          <a:prstGeom prst="roundRect">
            <a:avLst>
              <a:gd name="adj" fmla="val 5600"/>
            </a:avLst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9086850" y="1810512"/>
            <a:ext cx="255346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StateGraph 실행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32570" y="2176272"/>
            <a:ext cx="246202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Wiki 5노드 · Report 3노드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LLM: gpt-4.1-mini</a:t>
            </a:r>
            <a:endParaRPr lang="en-US" sz="9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754880"/>
                <a:gridCol w="414223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실행 경로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호출 위치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용도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개발 API (/dev/...)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app/services/agent_workflows.py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Swagger에서 단건 실행·검증 (local/test 환경 전용)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운영 Worker (CLI)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workers/features/*.py — batch claim 후 순차 처리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상주 루프로 Job Batch 소비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7B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agent/graph.py의 run_* 함수 하나를 그대로 호출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개발에서 검증한 그래프가 운영에서 동일하게 실행됨 (경로 분기 구조적 차단)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548640" y="5760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단, Job 실패 처리(재시도 판정)는 두 경로가 별도 구현 — P0 이슈 #3에서 다룸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밤새비서 · bambi-agent-api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-30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Wiki Builder — 그래프 구조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클리핑 원문 → entity/concept 추출 → Obsidian 규격 개인 Wiki 저장 (agent/graph.py:49-186)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984248" cy="1188720"/>
          </a:xfrm>
          <a:prstGeom prst="roundRect">
            <a:avLst>
              <a:gd name="adj" fmla="val 5385"/>
            </a:avLst>
          </a:prstGeom>
          <a:solidFill>
            <a:srgbClr val="4A7BF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64792"/>
            <a:ext cx="1984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load_source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94360" y="2130552"/>
            <a:ext cx="189280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읽기 트랜잭션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원본 + 기존 Wiki 조회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9464" y="2185416"/>
            <a:ext cx="219456" cy="20116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1" name="Shape 9"/>
          <p:cNvSpPr/>
          <p:nvPr/>
        </p:nvSpPr>
        <p:spPr>
          <a:xfrm>
            <a:off x="2825496" y="1691640"/>
            <a:ext cx="1984248" cy="1188720"/>
          </a:xfrm>
          <a:prstGeom prst="roundRect">
            <a:avLst>
              <a:gd name="adj" fmla="val 5385"/>
            </a:avLst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2825496" y="1764792"/>
            <a:ext cx="1984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classify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871216" y="2130552"/>
            <a:ext cx="189280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(트랜잭션 밖)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청크별 분류 + 관계 재검토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46320" y="2185416"/>
            <a:ext cx="219456" cy="20116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5" name="Shape 13"/>
          <p:cNvSpPr/>
          <p:nvPr/>
        </p:nvSpPr>
        <p:spPr>
          <a:xfrm>
            <a:off x="5102352" y="1691640"/>
            <a:ext cx="1984248" cy="1188720"/>
          </a:xfrm>
          <a:prstGeom prst="roundRect">
            <a:avLst>
              <a:gd name="adj" fmla="val 5385"/>
            </a:avLst>
          </a:prstGeom>
          <a:solidFill>
            <a:srgbClr val="00D4AA"/>
          </a:solidFill>
          <a:ln/>
        </p:spPr>
      </p:sp>
      <p:sp>
        <p:nvSpPr>
          <p:cNvPr id="16" name="Text 14"/>
          <p:cNvSpPr/>
          <p:nvPr/>
        </p:nvSpPr>
        <p:spPr>
          <a:xfrm>
            <a:off x="5102352" y="1764792"/>
            <a:ext cx="1984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148072" y="2130552"/>
            <a:ext cx="189280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순수 계산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 계획 (append-only 병합)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123176" y="2185416"/>
            <a:ext cx="219456" cy="20116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9" name="Shape 17"/>
          <p:cNvSpPr/>
          <p:nvPr/>
        </p:nvSpPr>
        <p:spPr>
          <a:xfrm>
            <a:off x="7379208" y="1691640"/>
            <a:ext cx="1984248" cy="1188720"/>
          </a:xfrm>
          <a:prstGeom prst="roundRect">
            <a:avLst>
              <a:gd name="adj" fmla="val 5385"/>
            </a:avLst>
          </a:prstGeom>
          <a:solidFill>
            <a:srgbClr val="4A7BF7"/>
          </a:solidFill>
          <a:ln/>
        </p:spPr>
      </p:sp>
      <p:sp>
        <p:nvSpPr>
          <p:cNvPr id="20" name="Text 18"/>
          <p:cNvSpPr/>
          <p:nvPr/>
        </p:nvSpPr>
        <p:spPr>
          <a:xfrm>
            <a:off x="7379208" y="1764792"/>
            <a:ext cx="1984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persist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424928" y="2130552"/>
            <a:ext cx="189280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쓰기 트랜잭션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문서·관계·Chunk 저장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400032" y="2185416"/>
            <a:ext cx="219456" cy="20116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3" name="Shape 21"/>
          <p:cNvSpPr/>
          <p:nvPr/>
        </p:nvSpPr>
        <p:spPr>
          <a:xfrm>
            <a:off x="9656064" y="1691640"/>
            <a:ext cx="1984248" cy="1188720"/>
          </a:xfrm>
          <a:prstGeom prst="roundRect">
            <a:avLst>
              <a:gd name="adj" fmla="val 5385"/>
            </a:avLst>
          </a:prstGeom>
          <a:solidFill>
            <a:srgbClr val="00D4AA"/>
          </a:solidFill>
          <a:ln/>
        </p:spPr>
      </p:sp>
      <p:sp>
        <p:nvSpPr>
          <p:cNvPr id="24" name="Text 22"/>
          <p:cNvSpPr/>
          <p:nvPr/>
        </p:nvSpPr>
        <p:spPr>
          <a:xfrm>
            <a:off x="9656064" y="1764792"/>
            <a:ext cx="1984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finalize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701784" y="2130552"/>
            <a:ext cx="189280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순수 조립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Job 결과 payload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3017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7BF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■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DB 노드(짧은 트랜잭션 소유)   </a:t>
            </a:r>
            <a:pPr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■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LLM 노드(to_thread, 트랜잭션 밖)   </a:t>
            </a:r>
            <a:pPr indent="0" marL="0">
              <a:buNone/>
            </a:pPr>
            <a:r>
              <a:rPr lang="en-US" sz="1200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■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순수 계산(부작용 없음)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20440"/>
          <a:ext cx="1109167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6309360"/>
                <a:gridCol w="322783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노드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동작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실패 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load_source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RLS scope 설정 후 원본 Version·기존 entity/concept·관계 조회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원본 부재·원문 없음 → ValueError (진짜 입력 오류)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classify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8,000자 청크당 LLM 분류 1회 + 관계 0건 시 재검토 1회 (호출 = 청크 수 × 1~2)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일시 오류 3회 백오프 후 전파 · JSON 파싱 실패 시 재요청 없음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plan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분류 결과를 문서·관계·아티팩트 계획으로 변환 — 날짜·경로·해시는 시스템이 주입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LLM 값의 DB 직행 차단 (환각 방어)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persist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namespace advisory lock + built_by_job_id FOR UPDATE → 멱등 저장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트랜잭션 원자적 롤백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밤새비서 · bambi-agent-api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-30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Wiki Builder — LLM 호출과 환각 방어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4406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6072" y="1554480"/>
            <a:ext cx="5385816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700784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호출 구조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3232" y="2066544"/>
            <a:ext cx="5111496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원문을 8,000자 청크로 분할, 청크마다 분류 1회 순차 호출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노드 2개 이상인데 검증된 관계 0건이면 관계 재검토 +1회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호출당 timeout 120초 · 일시 오류 3회 지수 백오프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모델 gpt-4.1-mini · temperature 0.3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structured output(JSON mode) 미사용 — 텍스트 응답을 json.loads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다중 청크 결과는 안정적인 키(casefold)로 병합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99632" y="1554480"/>
            <a:ext cx="544068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27064" y="1554480"/>
            <a:ext cx="5385816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6364224" y="1700784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환각 방어 (다층)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64224" y="2066544"/>
            <a:ext cx="5111496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인용문(mentions)은 원문 exact substring만 통과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관계는 ref 존재·자기참조·유형 정합·원문 evidence 전부 검증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subtype 화이트리스트 강제 (허용 외 → other)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날짜·파일 경로·해시는 LLM이 아닌 시스템이 직접 주입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프롬프트에 인젝션 방어 문구 포함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검증 통과 관계로만 related_* 목록 재구성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참고  </a:t>
            </a:r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Embedding 생성은 2026-07-20 결정으로 실행 경로에서 제외(Vector 검색 미도입). 재도입 시 persist 뒤 embed 노드 추가 예정 — 코드·명세 문서 모두 반영됨.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밤새비서 · bambi-agent-api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-30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Report Builder — 그래프 구조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→ 개인 Wiki 검색 + 실시간 수집 → 출처 인용 강제 리포트 생성·발행 (agent/graph.py:213-378)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502152" cy="1143000"/>
          </a:xfrm>
          <a:prstGeom prst="roundRect">
            <a:avLst>
              <a:gd name="adj" fmla="val 5600"/>
            </a:avLst>
          </a:prstGeom>
          <a:solidFill>
            <a:srgbClr val="4A7BF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64792"/>
            <a:ext cx="3502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load_context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130552"/>
            <a:ext cx="34107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+ 수집 + 선별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P·G·L 근거 최대 12건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087368" y="2162556"/>
            <a:ext cx="219456" cy="20116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1691640"/>
            <a:ext cx="3502152" cy="1143000"/>
          </a:xfrm>
          <a:prstGeom prst="roundRect">
            <a:avLst>
              <a:gd name="adj" fmla="val 5600"/>
            </a:avLst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1764792"/>
            <a:ext cx="3502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89120" y="2130552"/>
            <a:ext cx="34107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생성 + 품질 루프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(트랜잭션 밖)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882128" y="2162556"/>
            <a:ext cx="219456" cy="20116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5" name="Shape 13"/>
          <p:cNvSpPr/>
          <p:nvPr/>
        </p:nvSpPr>
        <p:spPr>
          <a:xfrm>
            <a:off x="8138160" y="1691640"/>
            <a:ext cx="3502152" cy="1143000"/>
          </a:xfrm>
          <a:prstGeom prst="roundRect">
            <a:avLst>
              <a:gd name="adj" fmla="val 5600"/>
            </a:avLst>
          </a:prstGeom>
          <a:solidFill>
            <a:srgbClr val="4A7BF7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764792"/>
            <a:ext cx="3502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persist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83880" y="2130552"/>
            <a:ext cx="34107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쓰기 트랜잭션 1개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Run·후보·Citation·Snapshot·Outbox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00400"/>
          <a:ext cx="1109167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583680"/>
                <a:gridCol w="304495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노드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내부 단계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load_context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prag_003 검색(pg_trgm+ts_rank 키워드, 개인+global) → 실시간 수집(키워드 비서 재실행: RSS·YouTube·Reddit → L 참조) → 12건 선별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"Hybrid"지만 Vector 검색 없음 · 검색 0건 시 최근 문서 폴백 · 수집 실패는 빈 목록 폴백(생성 계속)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generate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컨텍스트 16,000자까지 포함 → LLM 생성 → JSON 파싱 + 허용 외 인용 차단 → 무료 품질검사 → 미달 시 교정 재생성 최대 1회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깨진 JSON도 1회 재생성 대상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persist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citation ⊆ contexts 재검증 → 후보(ready)·Citation·publish_snapshot(ready)·CONTENT_READY Outbox를 한 트랜잭션 저장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FOR UPDATE·supersede·outbox dedup으로 재실행 안전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그래프 내 기능 ID 호출 10개 중 실질 구현은 3개(수집·선별·생성) — 나머지 7개는 항등 패스스루 (P2에서 다룸)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밤새비서 · bambi-agent-api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-30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Report Builder — 품질 루프와 인용 체계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품질 루프 (LLM 없는 무료·결정적 판정)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426464" cy="960120"/>
          </a:xfrm>
          <a:prstGeom prst="roundRect">
            <a:avLst>
              <a:gd name="adj" fmla="val 6667"/>
            </a:avLst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039112"/>
            <a:ext cx="1426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2404872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1회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11680" y="2345436"/>
            <a:ext cx="219456" cy="20116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1" name="Shape 9"/>
          <p:cNvSpPr/>
          <p:nvPr/>
        </p:nvSpPr>
        <p:spPr>
          <a:xfrm>
            <a:off x="2267712" y="1965960"/>
            <a:ext cx="1426464" cy="960120"/>
          </a:xfrm>
          <a:prstGeom prst="roundRect">
            <a:avLst>
              <a:gd name="adj" fmla="val 6667"/>
            </a:avLst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2267712" y="2039112"/>
            <a:ext cx="1426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품질 검사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313432" y="2404872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판정 (무료)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30752" y="2345436"/>
            <a:ext cx="219456" cy="20116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5" name="Shape 13"/>
          <p:cNvSpPr/>
          <p:nvPr/>
        </p:nvSpPr>
        <p:spPr>
          <a:xfrm>
            <a:off x="3986784" y="1965960"/>
            <a:ext cx="1426464" cy="960120"/>
          </a:xfrm>
          <a:prstGeom prst="roundRect">
            <a:avLst>
              <a:gd name="adj" fmla="val 6667"/>
            </a:avLst>
          </a:prstGeom>
          <a:solidFill>
            <a:srgbClr val="FFB020"/>
          </a:solidFill>
          <a:ln/>
        </p:spPr>
      </p:sp>
      <p:sp>
        <p:nvSpPr>
          <p:cNvPr id="16" name="Text 14"/>
          <p:cNvSpPr/>
          <p:nvPr/>
        </p:nvSpPr>
        <p:spPr>
          <a:xfrm>
            <a:off x="3986784" y="2039112"/>
            <a:ext cx="1426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재생성 ≤1회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032504" y="2404872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교정 지시 주입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49824" y="2345436"/>
            <a:ext cx="219456" cy="20116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9" name="Shape 17"/>
          <p:cNvSpPr/>
          <p:nvPr/>
        </p:nvSpPr>
        <p:spPr>
          <a:xfrm>
            <a:off x="5705856" y="1965960"/>
            <a:ext cx="1426464" cy="960120"/>
          </a:xfrm>
          <a:prstGeom prst="roundRect">
            <a:avLst>
              <a:gd name="adj" fmla="val 6667"/>
            </a:avLst>
          </a:prstGeom>
          <a:solidFill>
            <a:srgbClr val="4A7BF7"/>
          </a:solidFill>
          <a:ln/>
        </p:spPr>
      </p:sp>
      <p:sp>
        <p:nvSpPr>
          <p:cNvPr id="20" name="Text 18"/>
          <p:cNvSpPr/>
          <p:nvPr/>
        </p:nvSpPr>
        <p:spPr>
          <a:xfrm>
            <a:off x="5705856" y="2039112"/>
            <a:ext cx="1426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발행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751576" y="2404872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 'ready' 저장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0080" y="3200400"/>
            <a:ext cx="6492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NO_CITATIONS — 인용 0개 (재생성 대상)</a:t>
            </a:r>
            <a:endParaRPr lang="en-US" sz="1250" dirty="0"/>
          </a:p>
          <a:p>
            <a:pPr marL="152400" indent="-1524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TOO_SHORT — 본문 300자 미만 (근거 3개 미만이면 재생성 안 함)</a:t>
            </a:r>
            <a:endParaRPr lang="en-US" sz="1250" dirty="0"/>
          </a:p>
          <a:p>
            <a:pPr marL="152400" indent="-1524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IGNORES_CONTEXT — 인용률 30% 미만 (재생성 대상)</a:t>
            </a:r>
            <a:endParaRPr lang="en-US" sz="1250" dirty="0"/>
          </a:p>
          <a:p>
            <a:pPr marL="152400" indent="-1524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[object Object]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98080" y="1508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인용 참조 체계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965960"/>
          <a:ext cx="41148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463040"/>
                <a:gridCol w="19202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참조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특징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A7BF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P{n}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개인 Wiki 문서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url 없음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4A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G{n}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Global 수집 문서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url 있음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B02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L{n}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실시간 외부 자료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document_version_id 없음 · url 필수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7589520" y="3794760"/>
            <a:ext cx="4023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화이트리스트 2중 강제 — 파싱 시 허용 외 참조 차단 + 저장 직전 재검증</a:t>
            </a:r>
            <a:endParaRPr lang="en-US" sz="1200" dirty="0"/>
          </a:p>
          <a:p>
            <a:pPr marL="152400" indent="-1524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[object Object]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밤새비서 · bambi-agent-api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-30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구조 — Job 생명주기와 인프라 현황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553462" cy="1143000"/>
          </a:xfrm>
          <a:prstGeom prst="roundRect">
            <a:avLst>
              <a:gd name="adj" fmla="val 5600"/>
            </a:avLst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64792"/>
            <a:ext cx="255346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queued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130552"/>
            <a:ext cx="246202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Service가 발행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38678" y="2162556"/>
            <a:ext cx="219456" cy="20116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0" name="Shape 8"/>
          <p:cNvSpPr/>
          <p:nvPr/>
        </p:nvSpPr>
        <p:spPr>
          <a:xfrm>
            <a:off x="3394710" y="1691640"/>
            <a:ext cx="2553462" cy="1143000"/>
          </a:xfrm>
          <a:prstGeom prst="roundRect">
            <a:avLst>
              <a:gd name="adj" fmla="val 5600"/>
            </a:avLst>
          </a:prstGeom>
          <a:solidFill>
            <a:srgbClr val="4A7BF7"/>
          </a:solidFill>
          <a:ln/>
        </p:spPr>
      </p:sp>
      <p:sp>
        <p:nvSpPr>
          <p:cNvPr id="11" name="Text 9"/>
          <p:cNvSpPr/>
          <p:nvPr/>
        </p:nvSpPr>
        <p:spPr>
          <a:xfrm>
            <a:off x="3394710" y="1764792"/>
            <a:ext cx="255346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claim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40430" y="2130552"/>
            <a:ext cx="246202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SKIP LOCKED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lease 600초 · attempt+1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84748" y="2162556"/>
            <a:ext cx="219456" cy="20116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4" name="Shape 12"/>
          <p:cNvSpPr/>
          <p:nvPr/>
        </p:nvSpPr>
        <p:spPr>
          <a:xfrm>
            <a:off x="6240780" y="1691640"/>
            <a:ext cx="2553462" cy="1143000"/>
          </a:xfrm>
          <a:prstGeom prst="roundRect">
            <a:avLst>
              <a:gd name="adj" fmla="val 5600"/>
            </a:avLst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6240780" y="1764792"/>
            <a:ext cx="255346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running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86500" y="2130552"/>
            <a:ext cx="246202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그래프 전체 실행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(재개 불가 — checkpointer 없음)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830818" y="2162556"/>
            <a:ext cx="219456" cy="201168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8" name="Shape 16"/>
          <p:cNvSpPr/>
          <p:nvPr/>
        </p:nvSpPr>
        <p:spPr>
          <a:xfrm>
            <a:off x="9086850" y="1691640"/>
            <a:ext cx="2553462" cy="1143000"/>
          </a:xfrm>
          <a:prstGeom prst="roundRect">
            <a:avLst>
              <a:gd name="adj" fmla="val 5600"/>
            </a:avLst>
          </a:prstGeom>
          <a:solidFill>
            <a:srgbClr val="00D4AA"/>
          </a:solidFill>
          <a:ln/>
        </p:spPr>
      </p:sp>
      <p:sp>
        <p:nvSpPr>
          <p:cNvPr id="19" name="Text 17"/>
          <p:cNvSpPr/>
          <p:nvPr/>
        </p:nvSpPr>
        <p:spPr>
          <a:xfrm>
            <a:off x="9086850" y="1764792"/>
            <a:ext cx="255346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/ 실패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32570" y="2130552"/>
            <a:ext cx="246202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소유권 검증 후 기록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 시 SQL backoff 재큐잉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2918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76072" y="3291840"/>
            <a:ext cx="2596896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3438144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Checkpointer 없음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13232" y="3803904"/>
            <a:ext cx="232257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재시도는 항상 첫 노드부터.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성공한 LLM 호출 비용도 재지불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01568" y="32918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29000" y="3291840"/>
            <a:ext cx="2596896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7" name="Text 25"/>
          <p:cNvSpPr/>
          <p:nvPr/>
        </p:nvSpPr>
        <p:spPr>
          <a:xfrm>
            <a:off x="3566160" y="3438144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Heartbeat 미구현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566160" y="3803904"/>
            <a:ext cx="232257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WC-003 스텁 상태.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lease 초과 시 Job 이중 실행 가능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54496" y="32918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81928" y="3291840"/>
            <a:ext cx="2596896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31" name="Text 29"/>
          <p:cNvSpPr/>
          <p:nvPr/>
        </p:nvSpPr>
        <p:spPr>
          <a:xfrm>
            <a:off x="6419088" y="3438144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요청마다 재컴파일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419088" y="3803904"/>
            <a:ext cx="232257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connection을 클로저 캡처 →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컴파일 캐시·checkpointer 부착 불가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107424" y="32918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134856" y="3291840"/>
            <a:ext cx="2596896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35" name="Text 33"/>
          <p:cNvSpPr/>
          <p:nvPr/>
        </p:nvSpPr>
        <p:spPr>
          <a:xfrm>
            <a:off x="9272016" y="3438144"/>
            <a:ext cx="23225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관측성 공백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9272016" y="3803904"/>
            <a:ext cx="232257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LangSmith·OTel 0건.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토큰 실측 함수는 있으나 미연결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5349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지켜지는 것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RLS로 사용자 격리(트랜잭션 단위 scope) · agent-db만 접근(service-db 직접 접근 없음 — CLAUDE.md 불변식 준수) · /dev/graphs 레지스트리 정합 + 가드 테스트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밤새비서 · bambi-agent-api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-30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 되어 있는 점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유지하고 다른 에이전트에도 확산할 설계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76072" y="1645920"/>
            <a:ext cx="3557016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792224"/>
            <a:ext cx="3282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트랜잭션 경계 정석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13232" y="2157984"/>
            <a:ext cx="3282696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노드만 짧은 트랜잭션 소유.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수십 초 LLM 호출 동안 트랜잭션·락을 잡지 않음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70832" y="16459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98264" y="1645920"/>
            <a:ext cx="3557016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3" name="Text 11"/>
          <p:cNvSpPr/>
          <p:nvPr/>
        </p:nvSpPr>
        <p:spPr>
          <a:xfrm>
            <a:off x="4535424" y="1792224"/>
            <a:ext cx="3282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환각 방어 다층화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35424" y="2157984"/>
            <a:ext cx="3282696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verbatim 인용 검증 · citation 화이트리스트 2중 강제 · 시스템 값 직접 주입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93024" y="16459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0456" y="1645920"/>
            <a:ext cx="3557016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8357616" y="1792224"/>
            <a:ext cx="3282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멱등·동시성 제어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57616" y="2157984"/>
            <a:ext cx="3282696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advisory lock · FOR UPDATE 재실행 감지 · content_hash 버전 관리 · outbox dedup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76072" y="3931920"/>
            <a:ext cx="3557016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4078224"/>
            <a:ext cx="3282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품질 루프 비용 의식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3232" y="4443984"/>
            <a:ext cx="3282696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없는 무료 판정.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"재생성으로 나아질 문제만" 재생성 — 헛재생성 차단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70832" y="39319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98264" y="3931920"/>
            <a:ext cx="3557016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25" name="Text 23"/>
          <p:cNvSpPr/>
          <p:nvPr/>
        </p:nvSpPr>
        <p:spPr>
          <a:xfrm>
            <a:off x="4535424" y="4078224"/>
            <a:ext cx="3282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 격리 3겹 (Worker)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35424" y="4443984"/>
            <a:ext cx="3282696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Job 실패 → batch 계속 · 기록 실패 → lease_lost 강등 · batch 실패 → 루프 계속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93024" y="393192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20456" y="3931920"/>
            <a:ext cx="3557016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9" name="Text 27"/>
          <p:cNvSpPr/>
          <p:nvPr/>
        </p:nvSpPr>
        <p:spPr>
          <a:xfrm>
            <a:off x="8357616" y="4078224"/>
            <a:ext cx="3282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결정적 테스트 기반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357616" y="4443984"/>
            <a:ext cx="3282696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LLM·DB 없이 노드 순서·결과 조립 검증.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wiki 벤치 데이터셋은 인젝션·긴 입력 등 경계 케이스 완비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밤새비서 · bambi-agent-api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-30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개선점 개요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48건 발견 · 전건 코드 재검증 (45 확정 · 3 부분확정 · 기각 0)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737360"/>
          <a:ext cx="49377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806440" y="1737360"/>
            <a:ext cx="583387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33872" y="1737360"/>
            <a:ext cx="5779008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0" name="Text 7"/>
          <p:cNvSpPr/>
          <p:nvPr/>
        </p:nvSpPr>
        <p:spPr>
          <a:xfrm>
            <a:off x="5971032" y="1883664"/>
            <a:ext cx="5504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신뢰성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71032" y="2249424"/>
            <a:ext cx="550468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예외 분류 결함 · 재시도 규칙 불일치 · lease 이중 실행 — LLM의 일시적 실패가 영구 실패로 굳는 구조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806440" y="3154680"/>
            <a:ext cx="583387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33872" y="3154680"/>
            <a:ext cx="5779008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4" name="Text 11"/>
          <p:cNvSpPr/>
          <p:nvPr/>
        </p:nvSpPr>
        <p:spPr>
          <a:xfrm>
            <a:off x="5971032" y="3300984"/>
            <a:ext cx="5504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원칙·품질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971032" y="3666744"/>
            <a:ext cx="550468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인용 0개 발행 가능(불변식 공백) · 품질 루프 정합 오류 · 벤치마크 공백(측정 안 된 품질)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806440" y="4572000"/>
            <a:ext cx="583387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833872" y="4572000"/>
            <a:ext cx="5779008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8" name="Text 15"/>
          <p:cNvSpPr/>
          <p:nvPr/>
        </p:nvSpPr>
        <p:spPr>
          <a:xfrm>
            <a:off x="5971032" y="4718304"/>
            <a:ext cx="5504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구조·관측성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971032" y="5084064"/>
            <a:ext cx="550468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LangGraph 미활용(선형뿐) · lambda 간접화 · 토큰·지연 계측 부재 · 명세-코드 드리프트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48건 중 일부는 영역 간 중복 관점 포함 — 상세 문서에서 통합·중복 제거해 P0 7건 / P1 11건 / P2로 재구성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밤새비서 · bambi-agent-api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-30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P0 이슈 (1/2) — 신뢰성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실패가 경로·시점 따라 다르게 기록되고, 일시 실패가 영구 실패가 된다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206240"/>
                <a:gridCol w="3291840"/>
                <a:gridCol w="313639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LLM JSON 파싱 실패가 ValueError → Worker가 "입력 오류(재시도 불가)"로 오분류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(Wiki·Report 공통 — batch_runner.py:42)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LLM의 일시적 형식 이탈만으로 Job 영구 실패.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오류 코드가 원인을 오도해 운영 진단도 방해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LLM 형식 오류 전용 예외 분리 → 재시도 가능으로.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retryable 판정을 예외 타입 대신 명시 플래그로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dev API와 Worker의 retryable 판정 규칙이 정반대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(Worker: ValueError 외 전부 재시도 / dev API: Jina·Timeout 외 전부 영구 실패)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같은 예외가 실행 경로에 따라 반대로 기록.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"단일 경로" 보장이 실패 의미론에는 성립 안 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예외 → (error_code, retryable) 매핑을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shared 단일 함수로 추출해 양쪽 공유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lease 600초 초과 실행에 heartbeat 없음 (WC-003 스텁)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LLM 1건 최악 ~363초 × 다중 호출 구조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다른 Worker가 같은 Job 재점유 → 이중 실행.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데이터는 멱등 덕에 안전하나 LLM 비용 이중 지불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노드 경계에서 lease 연장(heartbeat) 구현.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최소한 LLM 진입 전 잔여 lease 확인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이슈는 근본 원인이 하나 — "실패의 종류를 코드가 구분하지 못한다". #1·#3은 shared 매핑 함수 하나로 동시 해결 가능 (반나절 규모)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밤새비서 · bambi-agent-api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-30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P0 이슈 (2/2) — 원칙 · 측정 · 계약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"출처 기반"이라는 서비스 정체성을 코드·측정·계약이 끝까지 보증하지 못한다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297680"/>
                <a:gridCol w="3383280"/>
                <a:gridCol w="295351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인용 0개 콘텐츠도 'ready'로 발행 — 품질 루프가 재생성 상한 후 미달 결과를 그대로 반환, persist는 무조건 ready 저장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CLAUDE.md 불변식 "출처 없는 답변 금지"의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마지막 관문이 비어 있음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NO_CITATIONS면 draft/blocked 저장 게이트 추가.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스텁인 REPORT-019가 이 게이트의 자리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wiki_builder 벤치마크 실행 기록 0건 — 우수한 12케이스 데이터셋·실행기 완비, results/ 부재 (git 이력에도 없음)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프롬프트·관계 로직 변경 커밋 이후에도 미실행.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분류 품질이 측정된 적이 한 번도 없음 (규칙 8 위반)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 승인 후 1회 실행해 기준선 커밋.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프롬프트 변경 시 재실행을 PR 체크리스트화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report 벤치 데이터셋 변별력 없음 — 10케이스 전부 "P1+G1 한 문장씩" 동일 구조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 참조·거절 케이스 부재가 실제 Citation 버그를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못 잡은 원인이었음을 결과 파일이 자인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 참조 · 다수 컨텍스트 · 인용 불가(거절) 케이스 추가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(데이터셋 변경은 규칙 8상 승인 필요)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6B6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agent-contract.md가 L(실시간) citation 미반영 — 실코드는 P/G/L 3종, L은 FK NULL + url 필수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 문서 기준으로 Spring Gateway를 구현하면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card_sources 매핑이 어긋남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계약 §3.1 갱신 — Service팀 Gateway 착수 전 필수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밤새비서 · bambi-agent-api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-30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— 품질·정확성·성능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리포트가 "덜 정확하고, 느리고, 보이지 않게" 되는 원인들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6766560"/>
                <a:gridCol w="295351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영역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품질 루프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인용률 분모 불일치 — 16,000자 절단으로 프롬프트에 못 들어간 문서까지 분모 포함 → 절대 통과 불가한 헛재생성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분모를 실제 포함된 근거 수로 교체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근거 선별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실시간 근거(L)가 체계적으로 밀림 — P·G 우선 배치 + 앞에서부터 절단이라 L 먼저 탈락 ("최신 자료" 목적과 상충)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풀별 최소 쿼터 또는 라운드로빈 (비서에 선례 있음)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검색 0건 폴백이 주제 무관 최근 문서를 "근거"로 주입 → 무관 인용 또는 헛재생성 유발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폴백 문서 구분 표시 또는 제거 · 중기적으로 pgvector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사이드 이펙트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리포트 생성이 키워드 비서의 개인화 이력을 오염 — 이후 7일 브리핑에서 같은 아이템 제외, 재생성 시 근거 고갈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이력 기록 없는 read-only 수집 모드 분리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Wiki 정합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dedup된 문서를 향한 관계가 경고 없이 유실 (plan 키 ≠ 저장 키)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키 매핑 치환 + dropped_relation_count 노출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성능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 구간 직렬 — 검색(DB)·실시간 수집(네트워크) 순차, 소스별 fetch 순차, 청크별 LLM 순차 → E2E 수십 초~수 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asyncio.gather 병렬화 + 노드별 소요 기록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견고성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structured output 미사용 · checkpointer 부재 (재시도 시 성공한 LLM 단계 재실행)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JSON mode 도입(벤치 재실행 동반) · 중간 산출물 저장 검토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관측성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토큰 실측 미연결 · Wiki 그래프 노드별 지연 무기록 · 벤치와 운영 temperature 불일치(0 vs 0.3)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구조화 로그 → 선택적 LangSmith · 파라미터 정렬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88900" marR="88900" marT="50800" marB="508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밤새비서 · bambi-agent-api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-30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 — 구조 정리와 문서 동기화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44068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6072" y="1600200"/>
            <a:ext cx="5385816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746504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 정리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3232" y="2112264"/>
            <a:ext cx="5111496" cy="3364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FeatureRequest lambda 간접화 정리 — 항등 패스스루 7개가 "구현된 것처럼 보이는" 상태 (기능 ID 추적 단절)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그래프와 중복된 build_incremental_wiki 제거 (호출처가 테스트뿐 — drift 위험)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죽은 스캐폴드 정리 — agent/nodes/*, 미사용 AgentState (비서의 동명 클래스와 혼동)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State 타입 강화 — 전 필드 NotRequired[object] → 구체 타입 지정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connection 클로저 → configurable 주입 (1회 컴파일 캐시 + checkpointer 경로 확보)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청크 분할 개선 — 라인 하드 컷 → 문장 경계 + overlap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99632" y="1600200"/>
            <a:ext cx="544068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27064" y="1600200"/>
            <a:ext cx="5385816" cy="548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2" name="Text 10"/>
          <p:cNvSpPr/>
          <p:nvPr/>
        </p:nvSpPr>
        <p:spPr>
          <a:xfrm>
            <a:off x="6364224" y="1746504"/>
            <a:ext cx="51114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동기화 (명세-코드 드리프트)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64224" y="2112264"/>
            <a:ext cx="5111496" cy="3364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REPORT-014/016(품질 평가·재생성): 구현은 있는데 기능 ID는 스텁, 명세 체크리스트 미기재 — 문서만 보면 없는 기능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REPORT-004 경계: "개인 Wiki 검색"이 실제로는 global 풀까지 검색 (G 참조 생성 위치가 명세와 다름)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keyword-assistant.md "남은 정리" 절이 report_builder를 삭제 후보로 기술 — 같은 문서의 현행 경로 설명과 자기모순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Worker docstring의 Embedding 잔재 (2026-07-20 제외 결정 미반영)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wc_013 "동시성 제어" docstring — 실제는 순차 루프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벤치 인프라 정렬 — report run.py에 자동 기록·토큰 실측 이식, wiki run.py에 비용 게이트 이식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재검증 정정: "비서 재사용 시 일간 보고서 LLM 낭비" 주장은 과장으로 판정 — daily 모드는 LLM 없이 Markdown 조립 (weekly 폴백만 LLM 1회)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밤새비서 · bambi-agent-api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109728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6692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-30" kern="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권장 실행 순서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효과 대비 비용 순 — 1·2번은 코드 몇 곳의 작은 변경으로 신뢰성 축을 해결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920240"/>
            <a:ext cx="502920" cy="50292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193852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예외 분류 재설계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25603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shared 매핑 함수로 P0 #1·#3 동시 해결.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반나절 규모, 효과 즉시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70832" y="173736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53712" y="1920240"/>
            <a:ext cx="502920" cy="50292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4553712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193792" y="193852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발행 게이트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99432" y="25603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persist 직전 NO_CITATIONS 검사.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신뢰의 핵심 불변식 복원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93024" y="173736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75904" y="1920240"/>
            <a:ext cx="502920" cy="50292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9" name="Text 17"/>
          <p:cNvSpPr/>
          <p:nvPr/>
        </p:nvSpPr>
        <p:spPr>
          <a:xfrm>
            <a:off x="8375904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015984" y="193852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벤치 기준선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21624" y="25603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wiki 벤치 1회 실행 + report 데이터셋 보강.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프롬프트 개선의 전제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97764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4160520"/>
            <a:ext cx="502920" cy="50292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371600" y="417880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문서 갱신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77240" y="48006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agent-contract.md에 L citation 반영.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Service팀 Gateway 착수 전 필수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70832" y="397764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53712" y="4160520"/>
            <a:ext cx="502920" cy="50292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29" name="Text 27"/>
          <p:cNvSpPr/>
          <p:nvPr/>
        </p:nvSpPr>
        <p:spPr>
          <a:xfrm>
            <a:off x="4553712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193792" y="417880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Heartbeat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599432" y="48006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lease 연장 또는 동적 산정.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 문서 유입이 늘기 전에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193024" y="397764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75904" y="4160520"/>
            <a:ext cx="502920" cy="502920"/>
          </a:xfrm>
          <a:prstGeom prst="ellipse">
            <a:avLst/>
          </a:prstGeom>
          <a:solidFill>
            <a:srgbClr val="4A7BF7"/>
          </a:solidFill>
          <a:ln/>
        </p:spPr>
      </p:sp>
      <p:sp>
        <p:nvSpPr>
          <p:cNvPr id="34" name="Text 32"/>
          <p:cNvSpPr/>
          <p:nvPr/>
        </p:nvSpPr>
        <p:spPr>
          <a:xfrm>
            <a:off x="8375904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9015984" y="417880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순차 진행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421624" y="48006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품질 루프 정합 → 병렬화 → 관측성 순.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단계마다 벤치 재실행으로 회귀 확인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6424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/ 16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밤새비서 · bambi-agent-api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280160" cy="73152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574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정리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기반은 튼튼합니다. </a:t>
            </a:r>
            <a:pPr indent="0" marL="0">
              <a:lnSpc>
                <a:spcPct val="160000"/>
              </a:lnSpc>
              <a:buNone/>
            </a:pPr>
            <a:r>
              <a:rPr lang="en-US" sz="165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트랜잭션 경계·멱등성·환각 방어는 이미 좋은 설계입니다.
</a:t>
            </a:r>
            <a:pPr indent="0" marL="0">
              <a:lnSpc>
                <a:spcPct val="16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구멍은 "실패 처리"와 "마지막 관문"에 있습니다. </a:t>
            </a:r>
            <a:pPr indent="0" marL="0">
              <a:lnSpc>
                <a:spcPct val="160000"/>
              </a:lnSpc>
              <a:buNone/>
            </a:pPr>
            <a:r>
              <a:rPr lang="en-US" sz="165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P0 7건 중 상당수가 반나절~하루 규모의 작은 변경입니다.
</a:t>
            </a:r>
            <a:pPr indent="0" marL="0">
              <a:lnSpc>
                <a:spcPct val="16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측정 없이는 개선도 없습니다. </a:t>
            </a:r>
            <a:pPr indent="0" marL="0">
              <a:lnSpc>
                <a:spcPct val="160000"/>
              </a:lnSpc>
              <a:buNone/>
            </a:pPr>
            <a:r>
              <a:rPr lang="en-US" sz="1650" dirty="0">
                <a:solidFill>
                  <a:srgbClr val="CBD5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벤치 기준선 확보가 이후 모든 프롬프트·모델 개선의 전제입니다.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근거(전 항목 file:line 수록) 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bambi-agent-api/docs/langgraph-agents-review-2026-07-26.md
</a:t>
            </a:r>
            <a:pPr indent="0" marL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그래프 시각화  </a:t>
            </a:r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/dev/graphs (레지스트리 가드 테스트로 코드와 정합 보장)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밤새비서 (Bambi) · Team AlphaCatcher · 2026-07-26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LangGraph 에이전트 리뷰 — LLM Wiki Builder · Report Builder</dc:title>
  <dc:subject>PptxGenJS Presentation</dc:subject>
  <dc:creator>AlphaCatcher</dc:creator>
  <cp:lastModifiedBy>AlphaCatcher</cp:lastModifiedBy>
  <cp:revision>1</cp:revision>
  <dcterms:created xsi:type="dcterms:W3CDTF">2026-07-26T05:46:37Z</dcterms:created>
  <dcterms:modified xsi:type="dcterms:W3CDTF">2026-07-26T05:46:37Z</dcterms:modified>
</cp:coreProperties>
</file>